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8" r:id="rId18"/>
    <p:sldId id="272" r:id="rId19"/>
    <p:sldId id="274" r:id="rId20"/>
    <p:sldId id="277" r:id="rId21"/>
    <p:sldId id="275" r:id="rId22"/>
    <p:sldId id="276" r:id="rId23"/>
    <p:sldId id="27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07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548640"/>
            <a:ext cx="2194560" cy="2194560"/>
          </a:xfrm>
          <a:prstGeom prst="ellipse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9875520" y="2011680"/>
            <a:ext cx="1280160" cy="1280160"/>
          </a:xfrm>
          <a:prstGeom prst="ellipse">
            <a:avLst/>
          </a:prstGeom>
          <a:solidFill>
            <a:srgbClr val="FA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8138160" y="2743200"/>
            <a:ext cx="914400" cy="91440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10241280" y="3749039"/>
            <a:ext cx="640080" cy="640080"/>
          </a:xfrm>
          <a:prstGeom prst="ellipse">
            <a:avLst/>
          </a:prstGeom>
          <a:solidFill>
            <a:srgbClr val="6E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7132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PATRONES DE DISEÑO ESTRUCTURALES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132320" cy="1371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4600" b="1" i="0">
                <a:solidFill>
                  <a:srgbClr val="F8FAFD"/>
                </a:solidFill>
                <a:latin typeface="Aptos"/>
              </a:defRPr>
            </a:pPr>
            <a:r>
              <a:rPr dirty="0"/>
              <a:t>DECORATOR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640080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300" b="0" i="0">
                <a:solidFill>
                  <a:srgbClr val="E6EEF8"/>
                </a:solidFill>
                <a:latin typeface="Aptos"/>
              </a:defRPr>
            </a:pPr>
            <a:r>
              <a:rPr dirty="0" err="1"/>
              <a:t>Agregar</a:t>
            </a:r>
            <a:r>
              <a:rPr dirty="0"/>
              <a:t> </a:t>
            </a:r>
            <a:r>
              <a:rPr dirty="0" err="1"/>
              <a:t>funcionalidades</a:t>
            </a:r>
            <a:r>
              <a:rPr dirty="0"/>
              <a:t> sin </a:t>
            </a:r>
            <a:r>
              <a:rPr dirty="0" err="1"/>
              <a:t>modificar</a:t>
            </a:r>
            <a:endParaRPr dirty="0"/>
          </a:p>
          <a:p>
            <a:pPr algn="l">
              <a:spcAft>
                <a:spcPts val="700"/>
              </a:spcAft>
              <a:defRPr sz="2300" b="0" i="0">
                <a:solidFill>
                  <a:srgbClr val="E6EEF8"/>
                </a:solidFill>
                <a:latin typeface="Aptos"/>
              </a:defRPr>
            </a:pPr>
            <a:r>
              <a:rPr dirty="0"/>
              <a:t>la </a:t>
            </a:r>
            <a:r>
              <a:rPr dirty="0" err="1"/>
              <a:t>clase</a:t>
            </a:r>
            <a:r>
              <a:rPr dirty="0"/>
              <a:t> original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83480"/>
            <a:ext cx="6217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1BED0"/>
                </a:solidFill>
                <a:latin typeface="Aptos"/>
              </a:defRPr>
            </a:pPr>
            <a:r>
              <a:rPr dirty="0" err="1"/>
              <a:t>Exposición</a:t>
            </a:r>
            <a:r>
              <a:rPr dirty="0"/>
              <a:t> • </a:t>
            </a:r>
            <a:r>
              <a:rPr dirty="0" err="1"/>
              <a:t>Conceptos</a:t>
            </a:r>
            <a:r>
              <a:rPr dirty="0"/>
              <a:t> • UML • Código • </a:t>
            </a:r>
            <a:r>
              <a:rPr dirty="0" err="1"/>
              <a:t>Ejercicio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04672" y="5989320"/>
            <a:ext cx="621792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B1BED0"/>
                </a:solidFill>
                <a:latin typeface="Aptos"/>
              </a:defRPr>
            </a:pPr>
            <a:r>
              <a:rPr dirty="0" err="1"/>
              <a:t>Nombre</a:t>
            </a:r>
            <a:r>
              <a:rPr lang="es-ES" dirty="0"/>
              <a:t>s</a:t>
            </a:r>
            <a:r>
              <a:rPr dirty="0"/>
              <a:t>:</a:t>
            </a:r>
            <a:r>
              <a:rPr lang="es-ES" dirty="0"/>
              <a:t> Kristian Charris, Fabian Eustate, Juan Florez y Oswaldo Rojano 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rPr dirty="0"/>
              <a:t>PATRONES DE DISEÑO  •  DECORATOR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01 · IDEA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Decorator?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rPr dirty="0"/>
              <a:t>Un </a:t>
            </a:r>
            <a:r>
              <a:rPr dirty="0" err="1"/>
              <a:t>patrón</a:t>
            </a:r>
            <a:r>
              <a:rPr dirty="0"/>
              <a:t> </a:t>
            </a:r>
            <a:r>
              <a:rPr dirty="0" err="1"/>
              <a:t>estructural</a:t>
            </a:r>
            <a:r>
              <a:rPr dirty="0"/>
              <a:t> que </a:t>
            </a:r>
            <a:r>
              <a:rPr dirty="0" err="1"/>
              <a:t>envuelve</a:t>
            </a:r>
            <a:r>
              <a:rPr dirty="0"/>
              <a:t> un </a:t>
            </a:r>
            <a:r>
              <a:rPr dirty="0" err="1"/>
              <a:t>objeto</a:t>
            </a:r>
            <a:r>
              <a:rPr dirty="0"/>
              <a:t> para </a:t>
            </a:r>
            <a:r>
              <a:rPr dirty="0" err="1"/>
              <a:t>añadirle</a:t>
            </a:r>
            <a:r>
              <a:rPr dirty="0"/>
              <a:t> </a:t>
            </a:r>
            <a:r>
              <a:rPr dirty="0" err="1"/>
              <a:t>responsabilidades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rPr dirty="0"/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3474720" cy="214884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64008" cy="196596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86968" y="2066544"/>
            <a:ext cx="3154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OBJETO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14600"/>
            <a:ext cx="3127248" cy="1435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rPr dirty="0"/>
              <a:t>Tiene la </a:t>
            </a:r>
            <a:r>
              <a:rPr dirty="0" err="1"/>
              <a:t>funcionalidad</a:t>
            </a:r>
            <a:r>
              <a:rPr dirty="0"/>
              <a:t> principal.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rPr dirty="0" err="1"/>
              <a:t>Ejemplo</a:t>
            </a:r>
            <a:r>
              <a:rPr dirty="0"/>
              <a:t>: un café </a:t>
            </a:r>
            <a:r>
              <a:rPr dirty="0" err="1"/>
              <a:t>sencillo</a:t>
            </a:r>
            <a:r>
              <a:rPr dirty="0"/>
              <a:t>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51960" y="2971800"/>
            <a:ext cx="457200" cy="0"/>
          </a:xfrm>
          <a:prstGeom prst="line">
            <a:avLst/>
          </a:prstGeom>
          <a:ln w="25400">
            <a:solidFill>
              <a:srgbClr val="1E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46320" y="1920240"/>
            <a:ext cx="2834640" cy="214884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846320" y="2011680"/>
            <a:ext cx="64008" cy="1965960"/>
          </a:xfrm>
          <a:prstGeom prst="rect">
            <a:avLst/>
          </a:prstGeom>
          <a:solidFill>
            <a:srgbClr val="FA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047488" y="2066544"/>
            <a:ext cx="2514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ABE5A"/>
                </a:solidFill>
                <a:latin typeface="Aptos"/>
              </a:defRPr>
            </a:pPr>
            <a:r>
              <a:rPr dirty="0"/>
              <a:t>DECORADOR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2514600"/>
            <a:ext cx="2487168" cy="1435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rPr dirty="0" err="1"/>
              <a:t>Envuelve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objeto</a:t>
            </a:r>
            <a:r>
              <a:rPr dirty="0"/>
              <a:t> y </a:t>
            </a:r>
            <a:r>
              <a:rPr dirty="0" err="1"/>
              <a:t>agrega</a:t>
            </a:r>
            <a:r>
              <a:rPr dirty="0"/>
              <a:t> algo nuevo.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0" y="2971800"/>
            <a:ext cx="457200" cy="0"/>
          </a:xfrm>
          <a:prstGeom prst="line">
            <a:avLst/>
          </a:prstGeom>
          <a:ln w="25400">
            <a:solidFill>
              <a:srgbClr val="1E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66760" y="1920240"/>
            <a:ext cx="3063240" cy="214884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8366760" y="2011680"/>
            <a:ext cx="64008" cy="196596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567928" y="2066544"/>
            <a:ext cx="2743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F7B72"/>
                </a:solidFill>
                <a:latin typeface="Aptos"/>
              </a:defRPr>
            </a:pPr>
            <a:r>
              <a:rPr dirty="0"/>
              <a:t>RESULTADO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514600"/>
            <a:ext cx="2715768" cy="1435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rPr dirty="0"/>
              <a:t>Un </a:t>
            </a:r>
            <a:r>
              <a:rPr dirty="0" err="1"/>
              <a:t>objeto</a:t>
            </a:r>
            <a:r>
              <a:rPr dirty="0"/>
              <a:t> con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funciones</a:t>
            </a:r>
            <a:r>
              <a:rPr dirty="0"/>
              <a:t>, sin </a:t>
            </a:r>
            <a:r>
              <a:rPr dirty="0" err="1"/>
              <a:t>cambiar</a:t>
            </a:r>
            <a:r>
              <a:rPr dirty="0"/>
              <a:t> la </a:t>
            </a:r>
            <a:r>
              <a:rPr dirty="0" err="1"/>
              <a:t>clase</a:t>
            </a:r>
            <a:r>
              <a:rPr dirty="0"/>
              <a:t> original.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1042416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200" b="1" i="0">
                <a:solidFill>
                  <a:srgbClr val="6EDCDC"/>
                </a:solidFill>
                <a:latin typeface="Aptos"/>
              </a:defRPr>
            </a:pPr>
            <a:r>
              <a:rPr dirty="0" err="1"/>
              <a:t>Analogía</a:t>
            </a:r>
            <a:r>
              <a:rPr dirty="0"/>
              <a:t>: café </a:t>
            </a:r>
            <a:r>
              <a:rPr dirty="0" err="1"/>
              <a:t>básico</a:t>
            </a:r>
            <a:r>
              <a:rPr dirty="0"/>
              <a:t> → </a:t>
            </a:r>
            <a:r>
              <a:rPr dirty="0" err="1"/>
              <a:t>añadir</a:t>
            </a:r>
            <a:r>
              <a:rPr dirty="0"/>
              <a:t> leche → </a:t>
            </a:r>
            <a:r>
              <a:rPr dirty="0" err="1"/>
              <a:t>añadir</a:t>
            </a:r>
            <a:r>
              <a:rPr dirty="0"/>
              <a:t> chocolate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02 · PROPÓSITO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rPr dirty="0"/>
              <a:t>¿Para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sirve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rPr dirty="0" err="1"/>
              <a:t>Permite</a:t>
            </a:r>
            <a:r>
              <a:rPr dirty="0"/>
              <a:t> extender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comportamiento</a:t>
            </a:r>
            <a:r>
              <a:rPr dirty="0"/>
              <a:t> de un </a:t>
            </a:r>
            <a:r>
              <a:rPr dirty="0" err="1"/>
              <a:t>objeto</a:t>
            </a:r>
            <a:r>
              <a:rPr dirty="0"/>
              <a:t> de forma flexible.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rPr dirty="0"/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141732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64008" cy="123444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48920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EBEAA"/>
                </a:solidFill>
                <a:latin typeface="Aptos"/>
              </a:defRPr>
            </a:pPr>
            <a:r>
              <a:rPr dirty="0" err="1"/>
              <a:t>Sirve</a:t>
            </a:r>
            <a:r>
              <a:rPr dirty="0"/>
              <a:t> para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23160"/>
            <a:ext cx="4864608" cy="704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rPr dirty="0" err="1"/>
              <a:t>Añadir</a:t>
            </a:r>
            <a:r>
              <a:rPr dirty="0"/>
              <a:t> </a:t>
            </a:r>
            <a:r>
              <a:rPr dirty="0" err="1"/>
              <a:t>funciones</a:t>
            </a:r>
            <a:r>
              <a:rPr dirty="0"/>
              <a:t> </a:t>
            </a:r>
            <a:r>
              <a:rPr dirty="0" err="1"/>
              <a:t>opcionales</a:t>
            </a:r>
            <a:r>
              <a:rPr dirty="0"/>
              <a:t> sin </a:t>
            </a:r>
            <a:r>
              <a:rPr dirty="0" err="1"/>
              <a:t>editar</a:t>
            </a:r>
            <a:r>
              <a:rPr dirty="0"/>
              <a:t> la </a:t>
            </a:r>
            <a:r>
              <a:rPr dirty="0" err="1"/>
              <a:t>clase</a:t>
            </a:r>
            <a:r>
              <a:rPr dirty="0"/>
              <a:t> original.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141732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64008" cy="1234440"/>
          </a:xfrm>
          <a:prstGeom prst="rect">
            <a:avLst/>
          </a:prstGeom>
          <a:solidFill>
            <a:srgbClr val="FA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419088" y="1975104"/>
            <a:ext cx="48920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ABE5A"/>
                </a:solidFill>
                <a:latin typeface="Aptos"/>
              </a:defRPr>
            </a:pPr>
            <a:r>
              <a:rPr dirty="0"/>
              <a:t>Se </a:t>
            </a:r>
            <a:r>
              <a:rPr dirty="0" err="1"/>
              <a:t>usa</a:t>
            </a:r>
            <a:r>
              <a:rPr dirty="0"/>
              <a:t> para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423160"/>
            <a:ext cx="4864608" cy="704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rPr dirty="0" err="1"/>
              <a:t>Combinar</a:t>
            </a:r>
            <a:r>
              <a:rPr dirty="0"/>
              <a:t> </a:t>
            </a:r>
            <a:r>
              <a:rPr dirty="0" err="1"/>
              <a:t>características</a:t>
            </a:r>
            <a:r>
              <a:rPr dirty="0"/>
              <a:t> sin </a:t>
            </a:r>
            <a:r>
              <a:rPr dirty="0" err="1"/>
              <a:t>crear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clase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combinación</a:t>
            </a:r>
            <a:r>
              <a:rPr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10332720" cy="18288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F8FAFD"/>
                </a:solidFill>
                <a:latin typeface="Aptos"/>
              </a:defRPr>
            </a:pPr>
            <a:r>
              <a:rPr dirty="0" err="1"/>
              <a:t>Ejemplos</a:t>
            </a:r>
            <a:r>
              <a:rPr dirty="0"/>
              <a:t>: </a:t>
            </a:r>
            <a:r>
              <a:rPr dirty="0" err="1"/>
              <a:t>notificaciones</a:t>
            </a:r>
            <a:r>
              <a:rPr dirty="0"/>
              <a:t>, </a:t>
            </a:r>
            <a:r>
              <a:rPr dirty="0" err="1"/>
              <a:t>flujos</a:t>
            </a:r>
            <a:r>
              <a:rPr dirty="0"/>
              <a:t> de </a:t>
            </a:r>
            <a:r>
              <a:rPr dirty="0" err="1"/>
              <a:t>archivos</a:t>
            </a:r>
            <a:r>
              <a:rPr dirty="0"/>
              <a:t> e interfaces </a:t>
            </a:r>
            <a:r>
              <a:rPr dirty="0" err="1"/>
              <a:t>gráficas</a:t>
            </a:r>
            <a:r>
              <a:rPr dirty="0"/>
              <a:t>.</a:t>
            </a:r>
          </a:p>
          <a:p>
            <a:pPr>
              <a:spcAft>
                <a:spcPts val="1100"/>
              </a:spcAft>
              <a:defRPr sz="1800" b="1">
                <a:solidFill>
                  <a:srgbClr val="6EDCDC"/>
                </a:solidFill>
                <a:latin typeface="Aptos"/>
              </a:defRPr>
            </a:pPr>
            <a:r>
              <a:rPr dirty="0"/>
              <a:t>Principio </a:t>
            </a:r>
            <a:r>
              <a:rPr dirty="0" err="1"/>
              <a:t>relacionado</a:t>
            </a:r>
            <a:r>
              <a:rPr dirty="0"/>
              <a:t>: </a:t>
            </a:r>
            <a:r>
              <a:rPr dirty="0" err="1"/>
              <a:t>abierto</a:t>
            </a:r>
            <a:r>
              <a:rPr dirty="0"/>
              <a:t>/</a:t>
            </a:r>
            <a:r>
              <a:rPr dirty="0" err="1"/>
              <a:t>cerrado</a:t>
            </a:r>
            <a:r>
              <a:rPr dirty="0"/>
              <a:t> — extender sin </a:t>
            </a:r>
            <a:r>
              <a:rPr dirty="0" err="1"/>
              <a:t>modificar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existente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03 · MOTIVACIÓN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rPr dirty="0"/>
              <a:t>El </a:t>
            </a:r>
            <a:r>
              <a:rPr dirty="0" err="1"/>
              <a:t>problema</a:t>
            </a:r>
            <a:r>
              <a:rPr dirty="0"/>
              <a:t>: </a:t>
            </a:r>
            <a:r>
              <a:rPr dirty="0" err="1"/>
              <a:t>demasiadas</a:t>
            </a:r>
            <a:r>
              <a:rPr dirty="0"/>
              <a:t> </a:t>
            </a:r>
            <a:r>
              <a:rPr dirty="0" err="1"/>
              <a:t>combinaciones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rPr dirty="0"/>
              <a:t>Si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combinación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clase</a:t>
            </a:r>
            <a:r>
              <a:rPr dirty="0"/>
              <a:t>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crece</a:t>
            </a:r>
            <a:r>
              <a:rPr dirty="0"/>
              <a:t> </a:t>
            </a:r>
            <a:r>
              <a:rPr dirty="0" err="1"/>
              <a:t>rápidamente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rPr dirty="0"/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301752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64008" cy="2834639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F7B72"/>
                </a:solidFill>
                <a:latin typeface="Aptos"/>
              </a:defRPr>
            </a:pPr>
            <a:r>
              <a:rPr dirty="0"/>
              <a:t>SIN DECORATOR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23160"/>
            <a:ext cx="4773168" cy="23042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rPr dirty="0"/>
              <a:t>Cafe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rPr dirty="0" err="1"/>
              <a:t>CafeConLeche</a:t>
            </a:r>
            <a:endParaRPr dirty="0"/>
          </a:p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rPr dirty="0" err="1"/>
              <a:t>CafeConChocolate</a:t>
            </a:r>
            <a:endParaRPr dirty="0"/>
          </a:p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rPr dirty="0" err="1"/>
              <a:t>CafeConLecheYChocolate</a:t>
            </a:r>
            <a:endParaRPr dirty="0"/>
          </a:p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rPr dirty="0" err="1"/>
              <a:t>CafeConLecheChocolateYCrema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120640" cy="301752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64008" cy="2834639"/>
          </a:xfrm>
          <a:prstGeom prst="rect">
            <a:avLst/>
          </a:prstGeom>
          <a:solidFill>
            <a:srgbClr val="6E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510528" y="1975104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6ED296"/>
                </a:solidFill>
                <a:latin typeface="Aptos"/>
              </a:defRPr>
            </a:pPr>
            <a:r>
              <a:rPr dirty="0"/>
              <a:t>CON DECORATOR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423160"/>
            <a:ext cx="4773168" cy="23042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r>
              <a:rPr dirty="0"/>
              <a:t>Cafe + Leche + Chocolate + Crema</a:t>
            </a:r>
          </a:p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ingrediente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propia</a:t>
            </a:r>
            <a:r>
              <a:rPr dirty="0"/>
              <a:t> </a:t>
            </a:r>
            <a:r>
              <a:rPr dirty="0" err="1"/>
              <a:t>clase</a:t>
            </a:r>
            <a:r>
              <a:rPr dirty="0"/>
              <a:t> y se </a:t>
            </a:r>
            <a:r>
              <a:rPr dirty="0" err="1"/>
              <a:t>combina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la </a:t>
            </a:r>
            <a:r>
              <a:rPr dirty="0" err="1"/>
              <a:t>necesidad</a:t>
            </a:r>
            <a:r>
              <a:rPr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03520"/>
            <a:ext cx="102412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900" b="1" i="0">
                <a:solidFill>
                  <a:srgbClr val="F8FAFD"/>
                </a:solidFill>
                <a:latin typeface="Aptos"/>
              </a:defRPr>
            </a:pPr>
            <a:r>
              <a:rPr dirty="0" err="1"/>
              <a:t>Motivación</a:t>
            </a:r>
            <a:r>
              <a:rPr dirty="0"/>
              <a:t>: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clases</a:t>
            </a:r>
            <a:r>
              <a:rPr dirty="0"/>
              <a:t> </a:t>
            </a:r>
            <a:r>
              <a:rPr dirty="0" err="1"/>
              <a:t>repetidas</a:t>
            </a:r>
            <a:r>
              <a:rPr dirty="0"/>
              <a:t> y </a:t>
            </a:r>
            <a:r>
              <a:rPr dirty="0" err="1"/>
              <a:t>facilitar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mantenimiento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04 · APLICABILIDAD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Cuándo</a:t>
            </a:r>
            <a:r>
              <a:rPr dirty="0"/>
              <a:t> </a:t>
            </a:r>
            <a:r>
              <a:rPr dirty="0" err="1"/>
              <a:t>conviene</a:t>
            </a:r>
            <a:r>
              <a:rPr dirty="0"/>
              <a:t> </a:t>
            </a:r>
            <a:r>
              <a:rPr dirty="0" err="1"/>
              <a:t>usarlo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rPr dirty="0" err="1"/>
              <a:t>Cuando</a:t>
            </a:r>
            <a:r>
              <a:rPr dirty="0"/>
              <a:t> las </a:t>
            </a:r>
            <a:r>
              <a:rPr dirty="0" err="1"/>
              <a:t>funcionalidades</a:t>
            </a:r>
            <a:r>
              <a:rPr dirty="0"/>
              <a:t> son </a:t>
            </a:r>
            <a:r>
              <a:rPr dirty="0" err="1"/>
              <a:t>opcionales</a:t>
            </a:r>
            <a:r>
              <a:rPr dirty="0"/>
              <a:t> y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combinarse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rPr dirty="0"/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74720" cy="182880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64008" cy="16459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32688" y="1929384"/>
            <a:ext cx="3154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SÍ </a:t>
            </a:r>
            <a:r>
              <a:rPr dirty="0" err="1"/>
              <a:t>conviene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32688" y="2377440"/>
            <a:ext cx="3127248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Varias</a:t>
            </a:r>
            <a:r>
              <a:rPr dirty="0"/>
              <a:t> </a:t>
            </a:r>
            <a:r>
              <a:rPr dirty="0" err="1"/>
              <a:t>opciones</a:t>
            </a:r>
            <a:endParaRPr dirty="0"/>
          </a:p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Combinaciones</a:t>
            </a:r>
            <a:r>
              <a:rPr dirty="0"/>
              <a:t> flexibles</a:t>
            </a:r>
          </a:p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rPr dirty="0"/>
              <a:t>• No </a:t>
            </a:r>
            <a:r>
              <a:rPr dirty="0" err="1"/>
              <a:t>modificar</a:t>
            </a:r>
            <a:r>
              <a:rPr dirty="0"/>
              <a:t> la </a:t>
            </a:r>
            <a:r>
              <a:rPr dirty="0" err="1"/>
              <a:t>clase</a:t>
            </a:r>
            <a:r>
              <a:rPr dirty="0"/>
              <a:t>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3474720" cy="182880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64008" cy="1645920"/>
          </a:xfrm>
          <a:prstGeom prst="rect">
            <a:avLst/>
          </a:prstGeom>
          <a:solidFill>
            <a:srgbClr val="FA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590288" y="1929384"/>
            <a:ext cx="3154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ABE5A"/>
                </a:solidFill>
                <a:latin typeface="Aptos"/>
              </a:defRPr>
            </a:pPr>
            <a:r>
              <a:rPr dirty="0" err="1"/>
              <a:t>Contextos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90288" y="2377440"/>
            <a:ext cx="3127248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rPr dirty="0"/>
              <a:t>• Café e </a:t>
            </a:r>
            <a:r>
              <a:rPr dirty="0" err="1"/>
              <a:t>ingredientes</a:t>
            </a:r>
            <a:endParaRPr dirty="0"/>
          </a:p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Notificaciones</a:t>
            </a:r>
            <a:endParaRPr dirty="0"/>
          </a:p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Archivos</a:t>
            </a:r>
            <a:r>
              <a:rPr dirty="0"/>
              <a:t> y </a:t>
            </a:r>
            <a:r>
              <a:rPr dirty="0" err="1"/>
              <a:t>compresión</a:t>
            </a:r>
            <a:endParaRPr dirty="0"/>
          </a:p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rPr dirty="0"/>
              <a:t>• Interfaces </a:t>
            </a:r>
            <a:r>
              <a:rPr dirty="0" err="1"/>
              <a:t>gráficas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474720" cy="182880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64008" cy="164592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247888" y="1929384"/>
            <a:ext cx="3154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F7B72"/>
                </a:solidFill>
                <a:latin typeface="Aptos"/>
              </a:defRPr>
            </a:pPr>
            <a:r>
              <a:rPr dirty="0" err="1"/>
              <a:t>Evítalo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77440"/>
            <a:ext cx="3127248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rPr dirty="0"/>
              <a:t>La </a:t>
            </a:r>
            <a:r>
              <a:rPr dirty="0" err="1"/>
              <a:t>funcionalidad</a:t>
            </a:r>
            <a:r>
              <a:rPr dirty="0"/>
              <a:t> es </a:t>
            </a:r>
            <a:r>
              <a:rPr dirty="0" err="1"/>
              <a:t>fija</a:t>
            </a:r>
            <a:r>
              <a:rPr dirty="0"/>
              <a:t> y </a:t>
            </a:r>
            <a:r>
              <a:rPr dirty="0" err="1"/>
              <a:t>sencilla</a:t>
            </a:r>
            <a:r>
              <a:rPr dirty="0"/>
              <a:t>. Los </a:t>
            </a:r>
            <a:r>
              <a:rPr dirty="0" err="1"/>
              <a:t>decoradores</a:t>
            </a:r>
            <a:r>
              <a:rPr dirty="0"/>
              <a:t> </a:t>
            </a:r>
            <a:r>
              <a:rPr dirty="0" err="1"/>
              <a:t>podrían</a:t>
            </a:r>
            <a:r>
              <a:rPr dirty="0"/>
              <a:t> </a:t>
            </a:r>
            <a:r>
              <a:rPr dirty="0" err="1"/>
              <a:t>añadir</a:t>
            </a:r>
            <a:r>
              <a:rPr dirty="0"/>
              <a:t> </a:t>
            </a:r>
            <a:r>
              <a:rPr dirty="0" err="1"/>
              <a:t>complejidad</a:t>
            </a:r>
            <a:r>
              <a:rPr dirty="0"/>
              <a:t> </a:t>
            </a:r>
            <a:r>
              <a:rPr dirty="0" err="1"/>
              <a:t>innecesaria</a:t>
            </a:r>
            <a:r>
              <a:rPr dirty="0"/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033272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100" b="1" i="0">
                <a:solidFill>
                  <a:srgbClr val="6EDCDC"/>
                </a:solidFill>
                <a:latin typeface="Aptos"/>
              </a:defRPr>
            </a:pPr>
            <a:r>
              <a:t>Idea clave: una responsabilidad adicional = un decorador posible.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t>05 · ESTRUCTURA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t>Los 4 participantes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t>Cada elemento tiene una responsabilidad específica.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697480" cy="29260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64008" cy="274320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883664"/>
            <a:ext cx="23774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EBEAA"/>
                </a:solidFill>
                <a:latin typeface="Aptos"/>
              </a:defRPr>
            </a:pPr>
            <a:r>
              <a:t>1. 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31720"/>
            <a:ext cx="2350008" cy="22128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Define la operación común para todos los objetos.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737360"/>
            <a:ext cx="2697480" cy="29260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828800"/>
            <a:ext cx="64008" cy="2743200"/>
          </a:xfrm>
          <a:prstGeom prst="rect">
            <a:avLst/>
          </a:prstGeom>
          <a:solidFill>
            <a:srgbClr val="FA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1883664"/>
            <a:ext cx="23774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ABE5A"/>
                </a:solidFill>
                <a:latin typeface="Aptos"/>
              </a:defRPr>
            </a:pPr>
            <a:r>
              <a:t>2. ConcreteComponent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331720"/>
            <a:ext cx="2350008" cy="22128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Implementa el comportamiento básico.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737360"/>
            <a:ext cx="2697480" cy="29260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64008" cy="2743200"/>
          </a:xfrm>
          <a:prstGeom prst="rect">
            <a:avLst/>
          </a:prstGeom>
          <a:solidFill>
            <a:srgbClr val="6E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1883664"/>
            <a:ext cx="23774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6EDCDC"/>
                </a:solidFill>
                <a:latin typeface="Aptos"/>
              </a:defRPr>
            </a:pPr>
            <a:r>
              <a:t>3. Decorator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331720"/>
            <a:ext cx="2350008" cy="22128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Guarda una referencia al componente y delega la operación.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737360"/>
            <a:ext cx="2286000" cy="29260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81160" y="1828800"/>
            <a:ext cx="64008" cy="27432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82328" y="1883664"/>
            <a:ext cx="1965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F7B72"/>
                </a:solidFill>
                <a:latin typeface="Aptos"/>
              </a:defRPr>
            </a:pPr>
            <a:r>
              <a:t>4. ConcreteDecorator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331720"/>
            <a:ext cx="1938528" cy="22128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Añade la funcionalidad concreta.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E6EEF8"/>
                </a:solidFill>
                <a:latin typeface="Aptos"/>
              </a:defRPr>
            </a:pPr>
            <a:r>
              <a:t>Un decorador también es un componente: por eso puede envolver otro decorador.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t>06 · DIAGRAMA 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t>Estructura general del patrón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t>Relaciones esenciales: implementación, herencia y composición.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45920"/>
            <a:ext cx="3474720" cy="914400"/>
          </a:xfrm>
          <a:prstGeom prst="rect">
            <a:avLst/>
          </a:prstGeom>
          <a:solidFill>
            <a:srgbClr val="27364F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52544" y="1700784"/>
            <a:ext cx="3364991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1EBEAA"/>
                </a:solidFill>
                <a:latin typeface="Aptos"/>
              </a:defRPr>
            </a:pPr>
            <a:r>
              <a:t>Component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7680" y="2084832"/>
            <a:ext cx="3474720" cy="0"/>
          </a:xfrm>
          <a:prstGeom prst="line">
            <a:avLst/>
          </a:prstGeom>
          <a:ln>
            <a:solidFill>
              <a:srgbClr val="1E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89120" y="2148840"/>
            <a:ext cx="3291839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operacion()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200400" cy="1143000"/>
          </a:xfrm>
          <a:prstGeom prst="rect">
            <a:avLst/>
          </a:prstGeom>
          <a:solidFill>
            <a:srgbClr val="27364F"/>
          </a:solidFill>
          <a:ln>
            <a:solidFill>
              <a:srgbClr val="FA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3986783"/>
            <a:ext cx="309067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ABE5A"/>
                </a:solidFill>
                <a:latin typeface="Aptos"/>
              </a:defRPr>
            </a:pPr>
            <a:r>
              <a:t>ConcreteComponent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370831"/>
            <a:ext cx="3200400" cy="0"/>
          </a:xfrm>
          <a:prstGeom prst="line">
            <a:avLst/>
          </a:prstGeom>
          <a:ln>
            <a:solidFill>
              <a:srgbClr val="FAB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434840"/>
            <a:ext cx="301752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operacion()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657600"/>
            <a:ext cx="3200400" cy="1371600"/>
          </a:xfrm>
          <a:prstGeom prst="rect">
            <a:avLst/>
          </a:prstGeom>
          <a:solidFill>
            <a:srgbClr val="27364F"/>
          </a:solidFill>
          <a:ln>
            <a:solidFill>
              <a:srgbClr val="6E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4" y="3712463"/>
            <a:ext cx="309067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6EDCDC"/>
                </a:solidFill>
                <a:latin typeface="Aptos"/>
              </a:defRPr>
            </a:pPr>
            <a:r>
              <a:t>Decorator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80560" y="4096512"/>
            <a:ext cx="3200400" cy="0"/>
          </a:xfrm>
          <a:prstGeom prst="line">
            <a:avLst/>
          </a:prstGeom>
          <a:ln>
            <a:solidFill>
              <a:srgbClr val="6E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0" y="4160520"/>
            <a:ext cx="301752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- componente: Component</a:t>
            </a:r>
          </a:p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operacion()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743200"/>
            <a:ext cx="3108960" cy="914400"/>
          </a:xfrm>
          <a:prstGeom prst="rect">
            <a:avLst/>
          </a:prstGeom>
          <a:solidFill>
            <a:srgbClr val="27364F"/>
          </a:solidFill>
          <a:ln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4464" y="2798064"/>
            <a:ext cx="299923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F7B72"/>
                </a:solidFill>
                <a:latin typeface="Aptos"/>
              </a:defRPr>
            </a:pPr>
            <a:r>
              <a:t>ConcreteDecoratorA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0" y="3182112"/>
            <a:ext cx="3108960" cy="0"/>
          </a:xfrm>
          <a:prstGeom prst="line">
            <a:avLst/>
          </a:prstGeom>
          <a:ln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21040" y="3246120"/>
            <a:ext cx="2926079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operacion()</a:t>
            </a:r>
          </a:p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extra()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4389120"/>
            <a:ext cx="3108960" cy="914400"/>
          </a:xfrm>
          <a:prstGeom prst="rect">
            <a:avLst/>
          </a:prstGeom>
          <a:solidFill>
            <a:srgbClr val="27364F"/>
          </a:solidFill>
          <a:ln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4464" y="4443983"/>
            <a:ext cx="299923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F7B72"/>
                </a:solidFill>
                <a:latin typeface="Aptos"/>
              </a:defRPr>
            </a:pPr>
            <a:r>
              <a:t>ConcreteDecoratorB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0" y="4828031"/>
            <a:ext cx="3108960" cy="0"/>
          </a:xfrm>
          <a:prstGeom prst="line">
            <a:avLst/>
          </a:prstGeom>
          <a:ln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21040" y="4892040"/>
            <a:ext cx="2926079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operacion()</a:t>
            </a:r>
          </a:p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extra()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2331720" y="2514600"/>
            <a:ext cx="2103120" cy="1371600"/>
          </a:xfrm>
          <a:prstGeom prst="line">
            <a:avLst/>
          </a:prstGeom>
          <a:ln w="19050">
            <a:solidFill>
              <a:srgbClr val="FAB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080760" y="2606040"/>
            <a:ext cx="0" cy="1005840"/>
          </a:xfrm>
          <a:prstGeom prst="line">
            <a:avLst/>
          </a:prstGeom>
          <a:ln w="19050">
            <a:solidFill>
              <a:srgbClr val="6E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726679" y="3246120"/>
            <a:ext cx="502921" cy="822960"/>
          </a:xfrm>
          <a:prstGeom prst="line">
            <a:avLst/>
          </a:prstGeom>
          <a:ln w="19050"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26679" y="4480560"/>
            <a:ext cx="502921" cy="320040"/>
          </a:xfrm>
          <a:prstGeom prst="line">
            <a:avLst/>
          </a:prstGeom>
          <a:ln w="19050"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100" b="0" i="1">
                <a:solidFill>
                  <a:srgbClr val="B1BED0"/>
                </a:solidFill>
                <a:latin typeface="Aptos"/>
              </a:defRPr>
            </a:pPr>
            <a:r>
              <a:t>Nota: diagrama conceptual simplificado para explicar la estructura.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t>07 · EJEMPLO 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t>Antes: una clase por combinación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t>Ejemplo en Python: cafetería.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7315200" cy="4206240"/>
          </a:xfrm>
          <a:prstGeom prst="roundRect">
            <a:avLst/>
          </a:prstGeom>
          <a:solidFill>
            <a:srgbClr val="0D1423"/>
          </a:solidFill>
          <a:ln>
            <a:solidFill>
              <a:srgbClr val="46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66760" y="1828800"/>
            <a:ext cx="3017520" cy="33832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66760" y="1920240"/>
            <a:ext cx="64008" cy="32004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67928" y="1975104"/>
            <a:ext cx="26974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F7B72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7928" y="2423160"/>
            <a:ext cx="2670048" cy="2670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• Repetición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• Muchas clases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• Cada ingrediente nuevo crea más combinaciones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82D7742-A2BA-E35C-C674-833A714464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48" t="8000" r="8648" b="7670"/>
          <a:stretch/>
        </p:blipFill>
        <p:spPr>
          <a:xfrm>
            <a:off x="2509584" y="1709928"/>
            <a:ext cx="3598608" cy="40241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t>08 · 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t>Diagrama de clases: 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t>Las clases representan combinaciones completas e independientes.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560320" cy="1234440"/>
          </a:xfrm>
          <a:prstGeom prst="rect">
            <a:avLst/>
          </a:prstGeom>
          <a:solidFill>
            <a:srgbClr val="27364F"/>
          </a:solidFill>
          <a:ln>
            <a:solidFill>
              <a:srgbClr val="B1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1883664"/>
            <a:ext cx="2450591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B1BED0"/>
                </a:solidFill>
                <a:latin typeface="Aptos"/>
              </a:defRPr>
            </a:pPr>
            <a:r>
              <a:t>Cafe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267712"/>
            <a:ext cx="2560320" cy="0"/>
          </a:xfrm>
          <a:prstGeom prst="line">
            <a:avLst/>
          </a:prstGeom>
          <a:ln>
            <a:solidFill>
              <a:srgbClr val="B1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19" y="2331720"/>
            <a:ext cx="2377439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2560320" cy="1234440"/>
          </a:xfrm>
          <a:prstGeom prst="rect">
            <a:avLst/>
          </a:prstGeom>
          <a:solidFill>
            <a:srgbClr val="27364F"/>
          </a:solidFill>
          <a:ln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38144" y="1883664"/>
            <a:ext cx="2450591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F7B72"/>
                </a:solidFill>
                <a:latin typeface="Aptos"/>
              </a:defRPr>
            </a:pPr>
            <a:r>
              <a:t>CafeConLeche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0" y="2267712"/>
            <a:ext cx="2560320" cy="0"/>
          </a:xfrm>
          <a:prstGeom prst="line">
            <a:avLst/>
          </a:prstGeom>
          <a:ln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74720" y="2331720"/>
            <a:ext cx="2377439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2560320" cy="1234440"/>
          </a:xfrm>
          <a:prstGeom prst="rect">
            <a:avLst/>
          </a:prstGeom>
          <a:solidFill>
            <a:srgbClr val="27364F"/>
          </a:solidFill>
          <a:ln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81344" y="1883664"/>
            <a:ext cx="2450591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F7B72"/>
                </a:solidFill>
                <a:latin typeface="Aptos"/>
              </a:defRPr>
            </a:pPr>
            <a:r>
              <a:t>CafeConChocolate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0" y="2267712"/>
            <a:ext cx="2560320" cy="0"/>
          </a:xfrm>
          <a:prstGeom prst="line">
            <a:avLst/>
          </a:prstGeom>
          <a:ln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17920" y="2331720"/>
            <a:ext cx="2377439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828800"/>
            <a:ext cx="2651760" cy="1234440"/>
          </a:xfrm>
          <a:prstGeom prst="rect">
            <a:avLst/>
          </a:prstGeom>
          <a:solidFill>
            <a:srgbClr val="27364F"/>
          </a:solidFill>
          <a:ln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24544" y="1883664"/>
            <a:ext cx="254203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F7B72"/>
                </a:solidFill>
                <a:latin typeface="Aptos"/>
              </a:defRPr>
            </a:pPr>
            <a:r>
              <a:t>CafeConLecheYChocolate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9680" y="2267712"/>
            <a:ext cx="2651760" cy="0"/>
          </a:xfrm>
          <a:prstGeom prst="line">
            <a:avLst/>
          </a:prstGeom>
          <a:ln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61119" y="2331720"/>
            <a:ext cx="2468879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94760"/>
            <a:ext cx="1042416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100" b="1" i="0">
                <a:solidFill>
                  <a:srgbClr val="F8FAFD"/>
                </a:solidFill>
                <a:latin typeface="Aptos"/>
              </a:defRPr>
            </a:pPr>
            <a:r>
              <a:t>No existe una estructura compartida para envolver y combinar funcionalidades.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t>09 · EJEMPLO DESPUÉS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t>Después: agregar decoradores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t>La clase base se mantiene y cada ingrediente añade su propio costo.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7726679" cy="4873752"/>
          </a:xfrm>
          <a:prstGeom prst="roundRect">
            <a:avLst/>
          </a:prstGeom>
          <a:solidFill>
            <a:srgbClr val="0D1423"/>
          </a:solidFill>
          <a:ln>
            <a:solidFill>
              <a:srgbClr val="46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0" y="1874519"/>
            <a:ext cx="2743200" cy="352044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95360" y="1965960"/>
            <a:ext cx="64008" cy="3337560"/>
          </a:xfrm>
          <a:prstGeom prst="rect">
            <a:avLst/>
          </a:prstGeom>
          <a:solidFill>
            <a:srgbClr val="6E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96528" y="2020824"/>
            <a:ext cx="24231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6ED296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2468879"/>
            <a:ext cx="2395728" cy="2807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t>$3.000 café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t>+$1.000 leche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t>+$1.500 chocolate</a:t>
            </a:r>
          </a:p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t>TOTAL: $5.500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78FC959-0AE3-20B3-530E-F51FF36597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96" t="5447" r="7193" b="5600"/>
          <a:stretch/>
        </p:blipFill>
        <p:spPr>
          <a:xfrm>
            <a:off x="2930016" y="1729592"/>
            <a:ext cx="3254478" cy="46632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t>10 · DESPUÉS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t>Diagrama de clases: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t>Los decoradores comparten la interfaz y envuelven un componente.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508760"/>
            <a:ext cx="3291840" cy="868680"/>
          </a:xfrm>
          <a:prstGeom prst="rect">
            <a:avLst/>
          </a:prstGeom>
          <a:solidFill>
            <a:srgbClr val="27364F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98264" y="1563624"/>
            <a:ext cx="318211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1EBEAA"/>
                </a:solidFill>
                <a:latin typeface="Aptos"/>
              </a:defRPr>
            </a:pPr>
            <a:r>
              <a:t>ComponenteCafe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43400" y="1947672"/>
            <a:ext cx="3291840" cy="0"/>
          </a:xfrm>
          <a:prstGeom prst="line">
            <a:avLst/>
          </a:prstGeom>
          <a:ln>
            <a:solidFill>
              <a:srgbClr val="1E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34840" y="2011680"/>
            <a:ext cx="3108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94760"/>
            <a:ext cx="2834640" cy="1051560"/>
          </a:xfrm>
          <a:prstGeom prst="rect">
            <a:avLst/>
          </a:prstGeom>
          <a:solidFill>
            <a:srgbClr val="27364F"/>
          </a:solidFill>
          <a:ln>
            <a:solidFill>
              <a:srgbClr val="FA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3849624"/>
            <a:ext cx="272491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ABE5A"/>
                </a:solidFill>
                <a:latin typeface="Aptos"/>
              </a:defRPr>
            </a:pPr>
            <a:r>
              <a:t>Cafe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233672"/>
            <a:ext cx="2834640" cy="0"/>
          </a:xfrm>
          <a:prstGeom prst="line">
            <a:avLst/>
          </a:prstGeom>
          <a:ln>
            <a:solidFill>
              <a:srgbClr val="FAB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297680"/>
            <a:ext cx="2651760" cy="5029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474720"/>
            <a:ext cx="2926080" cy="1325880"/>
          </a:xfrm>
          <a:prstGeom prst="rect">
            <a:avLst/>
          </a:prstGeom>
          <a:solidFill>
            <a:srgbClr val="27364F"/>
          </a:solidFill>
          <a:ln>
            <a:solidFill>
              <a:srgbClr val="6E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26864" y="3529584"/>
            <a:ext cx="281635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6EDCDC"/>
                </a:solidFill>
                <a:latin typeface="Aptos"/>
              </a:defRPr>
            </a:pPr>
            <a:r>
              <a:t>DecoradorCafe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3913631"/>
            <a:ext cx="2926079" cy="0"/>
          </a:xfrm>
          <a:prstGeom prst="line">
            <a:avLst/>
          </a:prstGeom>
          <a:ln>
            <a:solidFill>
              <a:srgbClr val="6E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63440" y="3977639"/>
            <a:ext cx="274320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- cafe: ComponenteCafe</a:t>
            </a:r>
          </a:p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2880360"/>
            <a:ext cx="2560320" cy="914400"/>
          </a:xfrm>
          <a:prstGeom prst="rect">
            <a:avLst/>
          </a:prstGeom>
          <a:solidFill>
            <a:srgbClr val="27364F"/>
          </a:solidFill>
          <a:ln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67344" y="2935224"/>
            <a:ext cx="2450591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F7B72"/>
                </a:solidFill>
                <a:latin typeface="Aptos"/>
              </a:defRPr>
            </a:pPr>
            <a:r>
              <a:t>Leche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0" y="3319272"/>
            <a:ext cx="2560320" cy="0"/>
          </a:xfrm>
          <a:prstGeom prst="line">
            <a:avLst/>
          </a:prstGeom>
          <a:ln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03919" y="3383280"/>
            <a:ext cx="2377439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4343400"/>
            <a:ext cx="2560320" cy="914400"/>
          </a:xfrm>
          <a:prstGeom prst="rect">
            <a:avLst/>
          </a:prstGeom>
          <a:solidFill>
            <a:srgbClr val="27364F"/>
          </a:solidFill>
          <a:ln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67344" y="4398264"/>
            <a:ext cx="2450591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F7B72"/>
                </a:solidFill>
                <a:latin typeface="Aptos"/>
              </a:defRPr>
            </a:pPr>
            <a:r>
              <a:t>Chocolate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0" y="4782312"/>
            <a:ext cx="2560320" cy="0"/>
          </a:xfrm>
          <a:prstGeom prst="line">
            <a:avLst/>
          </a:prstGeom>
          <a:ln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03919" y="4846320"/>
            <a:ext cx="2377439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566160" y="2331720"/>
            <a:ext cx="1097280" cy="1508760"/>
          </a:xfrm>
          <a:prstGeom prst="line">
            <a:avLst/>
          </a:prstGeom>
          <a:ln w="19050">
            <a:solidFill>
              <a:srgbClr val="FAB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035040" y="2395728"/>
            <a:ext cx="0" cy="1033272"/>
          </a:xfrm>
          <a:prstGeom prst="line">
            <a:avLst/>
          </a:prstGeom>
          <a:ln w="19050">
            <a:solidFill>
              <a:srgbClr val="6E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498079" y="3337560"/>
            <a:ext cx="914401" cy="411479"/>
          </a:xfrm>
          <a:prstGeom prst="line">
            <a:avLst/>
          </a:prstGeom>
          <a:ln w="19050"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98079" y="4480560"/>
            <a:ext cx="914401" cy="228600"/>
          </a:xfrm>
          <a:prstGeom prst="line">
            <a:avLst/>
          </a:prstGeom>
          <a:ln w="19050"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68680" y="562356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6EDCDC"/>
                </a:solidFill>
                <a:latin typeface="Aptos"/>
              </a:defRPr>
            </a:pPr>
            <a:r>
              <a:t>Ahora puedes combinar Leche y Chocolate sin crear una clase para cada mezcla.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t>11 · CÓMO SE COMBINAN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t>Los decoradores se pueden apilar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t>Cada capa recibe el objeto anterior y añade su parte.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2286000" cy="15544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64008" cy="137160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157984"/>
            <a:ext cx="1965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EBEAA"/>
                </a:solidFill>
                <a:latin typeface="Aptos"/>
              </a:defRPr>
            </a:pPr>
            <a:r>
              <a:t>Cafe()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06040"/>
            <a:ext cx="1938528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000" b="0" i="0">
                <a:solidFill>
                  <a:srgbClr val="F8FAFD"/>
                </a:solidFill>
                <a:latin typeface="Aptos"/>
              </a:defRPr>
            </a:pPr>
            <a:r>
              <a:t>$3.000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2743200"/>
            <a:ext cx="457200" cy="0"/>
          </a:xfrm>
          <a:prstGeom prst="line">
            <a:avLst/>
          </a:prstGeom>
          <a:ln w="25400">
            <a:solidFill>
              <a:srgbClr val="1E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49039" y="2011680"/>
            <a:ext cx="2286000" cy="15544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49039" y="2103120"/>
            <a:ext cx="64008" cy="1371600"/>
          </a:xfrm>
          <a:prstGeom prst="rect">
            <a:avLst/>
          </a:prstGeom>
          <a:solidFill>
            <a:srgbClr val="FA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50207" y="2157984"/>
            <a:ext cx="1965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ABE5A"/>
                </a:solidFill>
                <a:latin typeface="Aptos"/>
              </a:defRPr>
            </a:pPr>
            <a:r>
              <a:t>Leche(...)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7" y="2606040"/>
            <a:ext cx="1938528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000" b="0" i="0">
                <a:solidFill>
                  <a:srgbClr val="F8FAFD"/>
                </a:solidFill>
                <a:latin typeface="Aptos"/>
              </a:defRPr>
            </a:pPr>
            <a:r>
              <a:t>+ $1.000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26480" y="2743200"/>
            <a:ext cx="457200" cy="0"/>
          </a:xfrm>
          <a:prstGeom prst="line">
            <a:avLst/>
          </a:prstGeom>
          <a:ln w="25400">
            <a:solidFill>
              <a:srgbClr val="1E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75120" y="2011680"/>
            <a:ext cx="2286000" cy="15544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75120" y="2103120"/>
            <a:ext cx="64008" cy="13716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76288" y="2157984"/>
            <a:ext cx="1965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F7B72"/>
                </a:solidFill>
                <a:latin typeface="Aptos"/>
              </a:defRPr>
            </a:pPr>
            <a:r>
              <a:t>Chocolate(...)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606040"/>
            <a:ext cx="1938528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r>
              <a:t>+ $1.500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52560" y="2743200"/>
            <a:ext cx="457200" cy="0"/>
          </a:xfrm>
          <a:prstGeom prst="line">
            <a:avLst/>
          </a:prstGeom>
          <a:ln w="25400">
            <a:solidFill>
              <a:srgbClr val="1E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01200" y="2011680"/>
            <a:ext cx="1828800" cy="15544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01200" y="2103120"/>
            <a:ext cx="64008" cy="1371600"/>
          </a:xfrm>
          <a:prstGeom prst="rect">
            <a:avLst/>
          </a:prstGeom>
          <a:solidFill>
            <a:srgbClr val="6E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02368" y="2157984"/>
            <a:ext cx="15087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6ED296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2606040"/>
            <a:ext cx="1481328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900" b="0" i="0">
                <a:solidFill>
                  <a:srgbClr val="F8FAFD"/>
                </a:solidFill>
                <a:latin typeface="Aptos"/>
              </a:defRPr>
            </a:pPr>
            <a:r>
              <a:t>$5.500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72000"/>
            <a:ext cx="103327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700" b="0" i="0">
                <a:solidFill>
                  <a:srgbClr val="E6EEF8"/>
                </a:solidFill>
                <a:latin typeface="Aptos"/>
              </a:defRPr>
            </a:pPr>
            <a:r>
              <a:t>El orden puede importar en otros sistemas, según cómo interactúen las funcionalidades.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t>12 · USO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t>¿Dónde aparece en software real?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t>Un caso conocido: los flujos de entrada/salida de Java (Java I/O).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210312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64008" cy="1920239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EBEAA"/>
                </a:solidFill>
                <a:latin typeface="Aptos"/>
              </a:defRPr>
            </a:pPr>
            <a:r>
              <a:t>Flujo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23160"/>
            <a:ext cx="3035808" cy="13898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Datos que el programa quiere leer o escribir.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6240" y="2880360"/>
            <a:ext cx="457200" cy="0"/>
          </a:xfrm>
          <a:prstGeom prst="line">
            <a:avLst/>
          </a:prstGeom>
          <a:ln w="25400">
            <a:solidFill>
              <a:srgbClr val="1E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00600" y="1828800"/>
            <a:ext cx="2743200" cy="210312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00600" y="1920240"/>
            <a:ext cx="64008" cy="1920239"/>
          </a:xfrm>
          <a:prstGeom prst="rect">
            <a:avLst/>
          </a:prstGeom>
          <a:solidFill>
            <a:srgbClr val="FA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01768" y="1975104"/>
            <a:ext cx="24231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ABE5A"/>
                </a:solidFill>
                <a:latin typeface="Aptos"/>
              </a:defRPr>
            </a:pPr>
            <a:r>
              <a:t>Búfer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423160"/>
            <a:ext cx="2395728" cy="13898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Agrega lectura/escritura en búfer.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35240" y="2880360"/>
            <a:ext cx="411480" cy="0"/>
          </a:xfrm>
          <a:prstGeom prst="line">
            <a:avLst/>
          </a:prstGeom>
          <a:ln w="25400">
            <a:solidFill>
              <a:srgbClr val="1E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83879" y="1828800"/>
            <a:ext cx="3200400" cy="210312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920240"/>
            <a:ext cx="64008" cy="1920239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8" y="1975104"/>
            <a:ext cx="2880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F7B72"/>
                </a:solidFill>
                <a:latin typeface="Aptos"/>
              </a:defRPr>
            </a:pPr>
            <a:r>
              <a:t>Otro envoltorio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423160"/>
            <a:ext cx="2852928" cy="13898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Puede añadir lectura de tipos o procesamiento adicional.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1042416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6EDCDC"/>
                </a:solidFill>
                <a:latin typeface="Aptos"/>
              </a:defRPr>
            </a:pPr>
            <a:r>
              <a:t>Idea: envolver un flujo para sumar capacidades sin reescribir el flujo original.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424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0" i="1">
                <a:solidFill>
                  <a:srgbClr val="B1BED0"/>
                </a:solidFill>
                <a:latin typeface="Aptos"/>
              </a:defRPr>
            </a:pPr>
            <a:r>
              <a:t>Ejemplo conceptual; las clases concretas dependen de la operación de Java I/O.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t>13 ·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t>Ventajas y desventajas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t>Como todo patrón, es útil cuando resuelve un problema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20640" cy="301752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64008" cy="2834639"/>
          </a:xfrm>
          <a:prstGeom prst="rect">
            <a:avLst/>
          </a:prstGeom>
          <a:solidFill>
            <a:srgbClr val="6E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975104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6ED296"/>
                </a:solidFill>
                <a:latin typeface="Aptos"/>
              </a:defRPr>
            </a:pPr>
            <a:r>
              <a:t>VENTAJAS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23160"/>
            <a:ext cx="4773168" cy="23042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• Extiende sin modificar la clase original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• Reduce subclases por combinación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• Permite combinar funciones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• Favorece la reutilización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120640" cy="301752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64008" cy="2834639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975104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F7B72"/>
                </a:solidFill>
                <a:latin typeface="Aptos"/>
              </a:defRPr>
            </a:pPr>
            <a:r>
              <a:t>DESVENTAJAS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423160"/>
            <a:ext cx="4773168" cy="23042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• Aumenta el número de clases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• Puede dificultar seguir el flujo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• El orden puede cambiar el resultado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• Puede ser excesivo en casos simples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t>14 · ACTIVIDAD GRUPAL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t>Reto: sistema de pizzas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t>Tiempo sugerido: 5 minutos • No necesitan programar.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4663440" cy="347472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3291839"/>
          </a:xfrm>
          <a:prstGeom prst="rect">
            <a:avLst/>
          </a:prstGeom>
          <a:solidFill>
            <a:srgbClr val="FA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83664"/>
            <a:ext cx="4343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ABE5A"/>
                </a:solidFill>
                <a:latin typeface="Aptos"/>
              </a:defRPr>
            </a:pPr>
            <a:r>
              <a:t>SITUACIÓN 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4315968" cy="2761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PizzaBasica: $10.000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PizzaConQueso: $13.000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PizzaConJamon: $15.000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PizzaConQuesoYJamon: $18.000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Cada combinación tiene una clase.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737360"/>
            <a:ext cx="5577840" cy="347472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06440" y="1828800"/>
            <a:ext cx="64008" cy="3291839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07607" y="1883664"/>
            <a:ext cx="5257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EBEAA"/>
                </a:solidFill>
                <a:latin typeface="Aptos"/>
              </a:defRPr>
            </a:pPr>
            <a:r>
              <a:t>RETO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7" y="2331720"/>
            <a:ext cx="5230368" cy="2761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Dibujen un diagrama Decorator que incluya: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1. Componente común Pizza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2. PizzaBasica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3. DecoradorPizza que guarde una Pizza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4. Decoradores Queso y Jamon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5. Una pizza envuelta con ambos ingredientes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6EDCDC"/>
                </a:solidFill>
                <a:latin typeface="Aptos"/>
              </a:defRPr>
            </a:pPr>
            <a:r>
              <a:t>Pregunta guía: ¿cómo evitamos crear una clase para cada combinación?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t>15 · SOLUCIÓN DEL EJERCICIO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893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rPr lang="es-ES" dirty="0"/>
              <a:t>Diagrama del programa de pizza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99648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rPr lang="es-ES" sz="1400" dirty="0"/>
              <a:t>Este diagrama muestra el funcionamiento del programa sin aplicación del </a:t>
            </a:r>
            <a:r>
              <a:rPr lang="es-ES" sz="1400" dirty="0" err="1"/>
              <a:t>patron</a:t>
            </a:r>
            <a:endParaRPr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5237A9F4-99D1-0BE2-DB76-ED2642B5C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4850"/>
            <a:ext cx="10649081" cy="44889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2A1D1-6193-4BD8-0328-43D566A11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690BF1-C9BE-C0FA-9127-9397DB31D9C5}"/>
              </a:ext>
            </a:extLst>
          </p:cNvPr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t>15 · SOLUCIÓN DEL EJERCICIO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0EFD3E-D5A7-AFEC-D896-BF73EACA149A}"/>
              </a:ext>
            </a:extLst>
          </p:cNvPr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rPr dirty="0"/>
              <a:t>Una </a:t>
            </a:r>
            <a:r>
              <a:rPr dirty="0" err="1"/>
              <a:t>posible</a:t>
            </a:r>
            <a:r>
              <a:rPr dirty="0"/>
              <a:t> </a:t>
            </a:r>
            <a:r>
              <a:rPr dirty="0" err="1"/>
              <a:t>solución</a:t>
            </a:r>
            <a:r>
              <a:rPr lang="es-ES" dirty="0"/>
              <a:t> con </a:t>
            </a:r>
            <a:r>
              <a:rPr lang="es-ES" dirty="0" err="1"/>
              <a:t>decorator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636F9-1B29-71A1-4C33-FEBEA2E2C56D}"/>
              </a:ext>
            </a:extLst>
          </p:cNvPr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t>Muestra esta diapositiva después de que el público haya intentado resolverlo.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20CAC0-D6D6-6887-307E-2BCF07B14F92}"/>
              </a:ext>
            </a:extLst>
          </p:cNvPr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C689B5-B185-AD49-543B-CC4DBF5BCACF}"/>
              </a:ext>
            </a:extLst>
          </p:cNvPr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DFD1FA-30F8-9111-5C57-240071A159CF}"/>
              </a:ext>
            </a:extLst>
          </p:cNvPr>
          <p:cNvSpPr/>
          <p:nvPr/>
        </p:nvSpPr>
        <p:spPr>
          <a:xfrm>
            <a:off x="4297680" y="1508760"/>
            <a:ext cx="3291840" cy="868680"/>
          </a:xfrm>
          <a:prstGeom prst="rect">
            <a:avLst/>
          </a:prstGeom>
          <a:solidFill>
            <a:srgbClr val="27364F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A705F-411B-B27F-FECB-5AE69F77507D}"/>
              </a:ext>
            </a:extLst>
          </p:cNvPr>
          <p:cNvSpPr txBox="1"/>
          <p:nvPr/>
        </p:nvSpPr>
        <p:spPr>
          <a:xfrm>
            <a:off x="4352544" y="1563624"/>
            <a:ext cx="318211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1EBEAA"/>
                </a:solidFill>
                <a:latin typeface="Aptos"/>
              </a:defRPr>
            </a:pPr>
            <a:r>
              <a:t>Pizza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D74FC769-86B5-772E-F131-F818EDE9E716}"/>
              </a:ext>
            </a:extLst>
          </p:cNvPr>
          <p:cNvCxnSpPr/>
          <p:nvPr/>
        </p:nvCxnSpPr>
        <p:spPr>
          <a:xfrm>
            <a:off x="4297680" y="1947672"/>
            <a:ext cx="3291840" cy="0"/>
          </a:xfrm>
          <a:prstGeom prst="line">
            <a:avLst/>
          </a:prstGeom>
          <a:ln>
            <a:solidFill>
              <a:srgbClr val="1E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843D823-7FD1-10E5-54A5-197BC1D651A6}"/>
              </a:ext>
            </a:extLst>
          </p:cNvPr>
          <p:cNvSpPr txBox="1"/>
          <p:nvPr/>
        </p:nvSpPr>
        <p:spPr>
          <a:xfrm>
            <a:off x="4389120" y="2011680"/>
            <a:ext cx="3108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83EE3C-3B5E-DD32-8368-A1B13B881515}"/>
              </a:ext>
            </a:extLst>
          </p:cNvPr>
          <p:cNvSpPr/>
          <p:nvPr/>
        </p:nvSpPr>
        <p:spPr>
          <a:xfrm>
            <a:off x="731520" y="3840480"/>
            <a:ext cx="2743200" cy="1005840"/>
          </a:xfrm>
          <a:prstGeom prst="rect">
            <a:avLst/>
          </a:prstGeom>
          <a:solidFill>
            <a:srgbClr val="27364F"/>
          </a:solidFill>
          <a:ln>
            <a:solidFill>
              <a:srgbClr val="FA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2152E9-9E99-D6C9-52CC-0E0A71ADFC9A}"/>
              </a:ext>
            </a:extLst>
          </p:cNvPr>
          <p:cNvSpPr txBox="1"/>
          <p:nvPr/>
        </p:nvSpPr>
        <p:spPr>
          <a:xfrm>
            <a:off x="786384" y="3895344"/>
            <a:ext cx="263347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ABE5A"/>
                </a:solidFill>
                <a:latin typeface="Aptos"/>
              </a:defRPr>
            </a:pPr>
            <a:r>
              <a:t>PizzaBasica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740EC921-438C-844B-9D74-F1AD68431B6B}"/>
              </a:ext>
            </a:extLst>
          </p:cNvPr>
          <p:cNvCxnSpPr/>
          <p:nvPr/>
        </p:nvCxnSpPr>
        <p:spPr>
          <a:xfrm>
            <a:off x="731520" y="4279392"/>
            <a:ext cx="2743200" cy="0"/>
          </a:xfrm>
          <a:prstGeom prst="line">
            <a:avLst/>
          </a:prstGeom>
          <a:ln>
            <a:solidFill>
              <a:srgbClr val="FAB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D4CBD7F-5C5A-FD84-2EEA-E8DC069A0B87}"/>
              </a:ext>
            </a:extLst>
          </p:cNvPr>
          <p:cNvSpPr txBox="1"/>
          <p:nvPr/>
        </p:nvSpPr>
        <p:spPr>
          <a:xfrm>
            <a:off x="822960" y="4343400"/>
            <a:ext cx="25603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67697B-98BC-80C8-2053-259441D8233F}"/>
              </a:ext>
            </a:extLst>
          </p:cNvPr>
          <p:cNvSpPr/>
          <p:nvPr/>
        </p:nvSpPr>
        <p:spPr>
          <a:xfrm>
            <a:off x="4572000" y="3520440"/>
            <a:ext cx="2926080" cy="1325880"/>
          </a:xfrm>
          <a:prstGeom prst="rect">
            <a:avLst/>
          </a:prstGeom>
          <a:solidFill>
            <a:srgbClr val="27364F"/>
          </a:solidFill>
          <a:ln>
            <a:solidFill>
              <a:srgbClr val="6E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1DA777-BFB0-1F5E-BD42-2E50B46DFC46}"/>
              </a:ext>
            </a:extLst>
          </p:cNvPr>
          <p:cNvSpPr txBox="1"/>
          <p:nvPr/>
        </p:nvSpPr>
        <p:spPr>
          <a:xfrm>
            <a:off x="4626864" y="3575304"/>
            <a:ext cx="281635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6EDCDC"/>
                </a:solidFill>
                <a:latin typeface="Aptos"/>
              </a:defRPr>
            </a:pPr>
            <a:r>
              <a:t>DecoradorPizza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4E007748-3EA9-B5FC-4C84-691BEC2A142D}"/>
              </a:ext>
            </a:extLst>
          </p:cNvPr>
          <p:cNvCxnSpPr/>
          <p:nvPr/>
        </p:nvCxnSpPr>
        <p:spPr>
          <a:xfrm>
            <a:off x="4572000" y="3959352"/>
            <a:ext cx="2926079" cy="0"/>
          </a:xfrm>
          <a:prstGeom prst="line">
            <a:avLst/>
          </a:prstGeom>
          <a:ln>
            <a:solidFill>
              <a:srgbClr val="6E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8910188-ECE8-FBB7-50FB-D0741F041F6B}"/>
              </a:ext>
            </a:extLst>
          </p:cNvPr>
          <p:cNvSpPr txBox="1"/>
          <p:nvPr/>
        </p:nvSpPr>
        <p:spPr>
          <a:xfrm>
            <a:off x="4663440" y="4023360"/>
            <a:ext cx="274320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- pizza: Pizza</a:t>
            </a:r>
          </a:p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EF7624-BE29-9541-E82A-FEF3904553FB}"/>
              </a:ext>
            </a:extLst>
          </p:cNvPr>
          <p:cNvSpPr/>
          <p:nvPr/>
        </p:nvSpPr>
        <p:spPr>
          <a:xfrm>
            <a:off x="8412480" y="2834640"/>
            <a:ext cx="2560320" cy="914400"/>
          </a:xfrm>
          <a:prstGeom prst="rect">
            <a:avLst/>
          </a:prstGeom>
          <a:solidFill>
            <a:srgbClr val="27364F"/>
          </a:solidFill>
          <a:ln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DF2C40-24BE-5AD1-F66D-6D9AB4A8AD96}"/>
              </a:ext>
            </a:extLst>
          </p:cNvPr>
          <p:cNvSpPr txBox="1"/>
          <p:nvPr/>
        </p:nvSpPr>
        <p:spPr>
          <a:xfrm>
            <a:off x="8467344" y="2889504"/>
            <a:ext cx="2450591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F7B72"/>
                </a:solidFill>
                <a:latin typeface="Aptos"/>
              </a:defRPr>
            </a:pPr>
            <a:r>
              <a:t>Queso</a:t>
            </a: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5E4DE1F0-E28F-7FD7-EC4B-4A872EED90D8}"/>
              </a:ext>
            </a:extLst>
          </p:cNvPr>
          <p:cNvCxnSpPr/>
          <p:nvPr/>
        </p:nvCxnSpPr>
        <p:spPr>
          <a:xfrm>
            <a:off x="8412480" y="3273552"/>
            <a:ext cx="2560320" cy="0"/>
          </a:xfrm>
          <a:prstGeom prst="line">
            <a:avLst/>
          </a:prstGeom>
          <a:ln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577CBD0-86B5-D044-6CF4-7C7AC7901C85}"/>
              </a:ext>
            </a:extLst>
          </p:cNvPr>
          <p:cNvSpPr txBox="1"/>
          <p:nvPr/>
        </p:nvSpPr>
        <p:spPr>
          <a:xfrm>
            <a:off x="8503919" y="3337560"/>
            <a:ext cx="2377439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371CDD-387F-2CA7-ADB2-152FAC04C39C}"/>
              </a:ext>
            </a:extLst>
          </p:cNvPr>
          <p:cNvSpPr/>
          <p:nvPr/>
        </p:nvSpPr>
        <p:spPr>
          <a:xfrm>
            <a:off x="8412480" y="4343400"/>
            <a:ext cx="2560320" cy="914400"/>
          </a:xfrm>
          <a:prstGeom prst="rect">
            <a:avLst/>
          </a:prstGeom>
          <a:solidFill>
            <a:srgbClr val="27364F"/>
          </a:solidFill>
          <a:ln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941864-E788-9C19-72BC-7638C2AD9F8E}"/>
              </a:ext>
            </a:extLst>
          </p:cNvPr>
          <p:cNvSpPr txBox="1"/>
          <p:nvPr/>
        </p:nvSpPr>
        <p:spPr>
          <a:xfrm>
            <a:off x="8467344" y="4398264"/>
            <a:ext cx="2450591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F7B72"/>
                </a:solidFill>
                <a:latin typeface="Aptos"/>
              </a:defRPr>
            </a:pPr>
            <a:r>
              <a:t>Jamon</a:t>
            </a: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2F2D11B4-721C-C748-795C-3ABBD53D903A}"/>
              </a:ext>
            </a:extLst>
          </p:cNvPr>
          <p:cNvCxnSpPr/>
          <p:nvPr/>
        </p:nvCxnSpPr>
        <p:spPr>
          <a:xfrm>
            <a:off x="8412480" y="4782312"/>
            <a:ext cx="2560320" cy="0"/>
          </a:xfrm>
          <a:prstGeom prst="line">
            <a:avLst/>
          </a:prstGeom>
          <a:ln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7E7D5C3-392E-0C32-3AF8-9472306A675D}"/>
              </a:ext>
            </a:extLst>
          </p:cNvPr>
          <p:cNvSpPr txBox="1"/>
          <p:nvPr/>
        </p:nvSpPr>
        <p:spPr>
          <a:xfrm>
            <a:off x="8503919" y="4846320"/>
            <a:ext cx="2377439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+ precio()</a:t>
            </a: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289ADF4A-94C1-7C3E-5424-4C5740E9B1FF}"/>
              </a:ext>
            </a:extLst>
          </p:cNvPr>
          <p:cNvCxnSpPr/>
          <p:nvPr/>
        </p:nvCxnSpPr>
        <p:spPr>
          <a:xfrm flipV="1">
            <a:off x="3474720" y="2331720"/>
            <a:ext cx="1143000" cy="1508760"/>
          </a:xfrm>
          <a:prstGeom prst="line">
            <a:avLst/>
          </a:prstGeom>
          <a:ln w="19050">
            <a:solidFill>
              <a:srgbClr val="FAB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84B3399B-88F0-94F0-D213-97B3A74B4263}"/>
              </a:ext>
            </a:extLst>
          </p:cNvPr>
          <p:cNvCxnSpPr/>
          <p:nvPr/>
        </p:nvCxnSpPr>
        <p:spPr>
          <a:xfrm flipV="1">
            <a:off x="6035040" y="2395728"/>
            <a:ext cx="0" cy="1078992"/>
          </a:xfrm>
          <a:prstGeom prst="line">
            <a:avLst/>
          </a:prstGeom>
          <a:ln w="19050">
            <a:solidFill>
              <a:srgbClr val="6E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A1672F97-D133-2CC5-6E58-2C3993F5A7DA}"/>
              </a:ext>
            </a:extLst>
          </p:cNvPr>
          <p:cNvCxnSpPr/>
          <p:nvPr/>
        </p:nvCxnSpPr>
        <p:spPr>
          <a:xfrm flipV="1">
            <a:off x="7498079" y="3291840"/>
            <a:ext cx="914401" cy="457199"/>
          </a:xfrm>
          <a:prstGeom prst="line">
            <a:avLst/>
          </a:prstGeom>
          <a:ln w="19050"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69E2F1E8-D213-795C-4715-D27FE4516031}"/>
              </a:ext>
            </a:extLst>
          </p:cNvPr>
          <p:cNvCxnSpPr/>
          <p:nvPr/>
        </p:nvCxnSpPr>
        <p:spPr>
          <a:xfrm>
            <a:off x="7498079" y="4480560"/>
            <a:ext cx="914401" cy="228600"/>
          </a:xfrm>
          <a:prstGeom prst="line">
            <a:avLst/>
          </a:prstGeom>
          <a:ln w="19050">
            <a:solidFill>
              <a:srgbClr val="FF7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A3DF554-2DAE-9A48-C92F-3E43E7FA03FC}"/>
              </a:ext>
            </a:extLst>
          </p:cNvPr>
          <p:cNvSpPr txBox="1"/>
          <p:nvPr/>
        </p:nvSpPr>
        <p:spPr>
          <a:xfrm>
            <a:off x="822960" y="5623560"/>
            <a:ext cx="10607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6EDCDC"/>
                </a:solidFill>
                <a:latin typeface="Aptos"/>
              </a:defRPr>
            </a:pPr>
            <a:r>
              <a:t>Queso(Jamon(PizzaBasica())) — los ingredientes se pueden combinar.</a:t>
            </a:r>
          </a:p>
        </p:txBody>
      </p:sp>
    </p:spTree>
    <p:extLst>
      <p:ext uri="{BB962C8B-B14F-4D97-AF65-F5344CB8AC3E}">
        <p14:creationId xmlns:p14="http://schemas.microsoft.com/office/powerpoint/2010/main" val="1062697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16 · REPASO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t>Preguntas rápidas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t>Comprueba que el público se lleve la idea principal.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13258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64008" cy="114300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37944"/>
            <a:ext cx="48920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EBEAA"/>
                </a:solidFill>
                <a:latin typeface="Aptos"/>
              </a:defRPr>
            </a:pPr>
            <a:r>
              <a:t>¿Por qué es estructural?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86000"/>
            <a:ext cx="4864608" cy="6126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Organiza relaciones entre objetos mediante envoltura.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13258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64008" cy="1143000"/>
          </a:xfrm>
          <a:prstGeom prst="rect">
            <a:avLst/>
          </a:prstGeom>
          <a:solidFill>
            <a:srgbClr val="FA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837944"/>
            <a:ext cx="48920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ABE5A"/>
                </a:solidFill>
                <a:latin typeface="Aptos"/>
              </a:defRPr>
            </a:pPr>
            <a:r>
              <a:t>¿Se pueden apilar?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286000"/>
            <a:ext cx="4864608" cy="6126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Sí; cada decorador puede envolver otro decorador.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5212080" cy="13258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429000"/>
            <a:ext cx="64008" cy="1143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483864"/>
            <a:ext cx="48920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F7B72"/>
                </a:solidFill>
                <a:latin typeface="Aptos"/>
              </a:defRPr>
            </a:pPr>
            <a:r>
              <a:t>¿Qué evita?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931920"/>
            <a:ext cx="4864608" cy="6126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Crear una clase por cada combinación posible.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37560"/>
            <a:ext cx="5212080" cy="13258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429000"/>
            <a:ext cx="64008" cy="1143000"/>
          </a:xfrm>
          <a:prstGeom prst="rect">
            <a:avLst/>
          </a:prstGeom>
          <a:solidFill>
            <a:srgbClr val="6E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483864"/>
            <a:ext cx="48920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6ED296"/>
                </a:solidFill>
                <a:latin typeface="Aptos"/>
              </a:defRPr>
            </a:pPr>
            <a:r>
              <a:t>¿Qué principio favorece?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931920"/>
            <a:ext cx="4864608" cy="6126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Abierto/cerrado: extender sin modificar.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000" b="1" i="0">
                <a:solidFill>
                  <a:srgbClr val="6EDCDC"/>
                </a:solidFill>
                <a:latin typeface="Aptos"/>
              </a:defRPr>
            </a:pPr>
            <a:r>
              <a:t>Frase para recordar: envolver un objeto para añadirle responsabilidades.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2A96B-85DD-02ED-4199-F544716C5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A0623E-328C-A7D3-23BD-15EDC1ED1BA9}"/>
              </a:ext>
            </a:extLst>
          </p:cNvPr>
          <p:cNvSpPr txBox="1"/>
          <p:nvPr/>
        </p:nvSpPr>
        <p:spPr>
          <a:xfrm>
            <a:off x="594360" y="292608"/>
            <a:ext cx="1097280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1</a:t>
            </a:r>
            <a:r>
              <a:rPr lang="es-CO" dirty="0"/>
              <a:t>7</a:t>
            </a:r>
            <a:r>
              <a:rPr dirty="0"/>
              <a:t> · </a:t>
            </a:r>
            <a:r>
              <a:rPr lang="es-CO" dirty="0"/>
              <a:t>Proyecto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7E217F-571C-B6B3-D3B2-B493D2E8C236}"/>
              </a:ext>
            </a:extLst>
          </p:cNvPr>
          <p:cNvSpPr txBox="1"/>
          <p:nvPr/>
        </p:nvSpPr>
        <p:spPr>
          <a:xfrm>
            <a:off x="594360" y="658368"/>
            <a:ext cx="10972800" cy="5570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rPr lang="es-CO" dirty="0"/>
              <a:t>Antes de la implementación del </a:t>
            </a:r>
            <a:r>
              <a:rPr lang="es-CO" sz="2900" dirty="0">
                <a:solidFill>
                  <a:srgbClr val="F8FAFD"/>
                </a:solidFill>
                <a:latin typeface="Aptos"/>
              </a:rPr>
              <a:t>patrón </a:t>
            </a:r>
            <a:r>
              <a:rPr lang="es-CO" dirty="0" err="1"/>
              <a:t>Decorator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000F3-F9C9-7240-B38A-95B751E14555}"/>
              </a:ext>
            </a:extLst>
          </p:cNvPr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49F7D-EB9B-D625-5541-B7CAD5BBA238}"/>
              </a:ext>
            </a:extLst>
          </p:cNvPr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DEFC7036-6C12-F744-8B02-FA79B9B5E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961" y="1338365"/>
            <a:ext cx="7935946" cy="501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156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EEE4A-1849-05A6-3600-CEF791ABB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CC704E-D9EF-26B0-F362-294B3284CF90}"/>
              </a:ext>
            </a:extLst>
          </p:cNvPr>
          <p:cNvSpPr txBox="1"/>
          <p:nvPr/>
        </p:nvSpPr>
        <p:spPr>
          <a:xfrm>
            <a:off x="594360" y="292608"/>
            <a:ext cx="1097280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1</a:t>
            </a:r>
            <a:r>
              <a:rPr lang="es-CO" dirty="0"/>
              <a:t>8</a:t>
            </a:r>
            <a:r>
              <a:rPr dirty="0"/>
              <a:t> · </a:t>
            </a:r>
            <a:r>
              <a:rPr lang="es-CO" dirty="0"/>
              <a:t>Proyecto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F5F1-1F04-E5A6-E8D1-46D51990EC4F}"/>
              </a:ext>
            </a:extLst>
          </p:cNvPr>
          <p:cNvSpPr txBox="1"/>
          <p:nvPr/>
        </p:nvSpPr>
        <p:spPr>
          <a:xfrm>
            <a:off x="594360" y="658368"/>
            <a:ext cx="10972800" cy="5570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rPr lang="es-CO" dirty="0"/>
              <a:t>Antes de la implementación del </a:t>
            </a:r>
            <a:r>
              <a:rPr lang="es-CO" sz="2900" dirty="0">
                <a:solidFill>
                  <a:srgbClr val="F8FAFD"/>
                </a:solidFill>
                <a:latin typeface="Aptos"/>
              </a:rPr>
              <a:t>patrón </a:t>
            </a:r>
            <a:r>
              <a:rPr lang="es-CO" dirty="0" err="1"/>
              <a:t>Decorator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78EE3-18B6-F207-BCAC-1ADE4CE1E68E}"/>
              </a:ext>
            </a:extLst>
          </p:cNvPr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2D106B-B4E8-2CB8-A68D-A4158E15A2BF}"/>
              </a:ext>
            </a:extLst>
          </p:cNvPr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8DC4956-2A3B-DF8A-40DA-F7385116B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3921"/>
            <a:ext cx="6068272" cy="3905795"/>
          </a:xfrm>
          <a:prstGeom prst="rect">
            <a:avLst/>
          </a:prstGeom>
        </p:spPr>
      </p:pic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160A235F-574A-6C97-CF04-8AF6BB64ADF7}"/>
              </a:ext>
            </a:extLst>
          </p:cNvPr>
          <p:cNvSpPr/>
          <p:nvPr/>
        </p:nvSpPr>
        <p:spPr>
          <a:xfrm>
            <a:off x="6819753" y="2706270"/>
            <a:ext cx="5212080" cy="13258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A0F10766-6435-7629-D543-65AFAF086FF8}"/>
              </a:ext>
            </a:extLst>
          </p:cNvPr>
          <p:cNvSpPr/>
          <p:nvPr/>
        </p:nvSpPr>
        <p:spPr>
          <a:xfrm>
            <a:off x="6819753" y="2797710"/>
            <a:ext cx="64008" cy="114300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1106DFEC-BF84-DCFD-CBBB-B3B51603FCFD}"/>
              </a:ext>
            </a:extLst>
          </p:cNvPr>
          <p:cNvSpPr txBox="1"/>
          <p:nvPr/>
        </p:nvSpPr>
        <p:spPr>
          <a:xfrm>
            <a:off x="7048353" y="2869230"/>
            <a:ext cx="4864608" cy="103412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rPr lang="es-CO" dirty="0"/>
              <a:t>Antes, el controlador enviaba el comando directamente al servicio Bluetooth. No existía una capa intermedia que registrara el inicio, el resultado y la duración de cada intento de envío.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5656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0AFD1E-5BAD-0729-A877-CDA9A90A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8469C9-CFCA-4EEA-CEF5-84BD895662FF}"/>
              </a:ext>
            </a:extLst>
          </p:cNvPr>
          <p:cNvSpPr txBox="1"/>
          <p:nvPr/>
        </p:nvSpPr>
        <p:spPr>
          <a:xfrm>
            <a:off x="594360" y="292608"/>
            <a:ext cx="1097280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rPr dirty="0"/>
              <a:t>1</a:t>
            </a:r>
            <a:r>
              <a:rPr lang="es-CO" dirty="0"/>
              <a:t>9</a:t>
            </a:r>
            <a:r>
              <a:rPr dirty="0"/>
              <a:t> · </a:t>
            </a:r>
            <a:r>
              <a:rPr lang="es-CO" dirty="0"/>
              <a:t>Proyecto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4A06A3-BE75-2680-2059-DCC757937ADB}"/>
              </a:ext>
            </a:extLst>
          </p:cNvPr>
          <p:cNvSpPr txBox="1"/>
          <p:nvPr/>
        </p:nvSpPr>
        <p:spPr>
          <a:xfrm>
            <a:off x="594360" y="658368"/>
            <a:ext cx="10972800" cy="5570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rPr lang="es-CO" dirty="0"/>
              <a:t>Después de la implementación del </a:t>
            </a:r>
            <a:r>
              <a:rPr lang="es-CO" sz="2900" dirty="0">
                <a:solidFill>
                  <a:srgbClr val="F8FAFD"/>
                </a:solidFill>
                <a:latin typeface="Aptos"/>
              </a:rPr>
              <a:t>patrón </a:t>
            </a:r>
            <a:r>
              <a:rPr lang="es-CO" dirty="0" err="1"/>
              <a:t>Decorator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603DA8-32FE-A26A-B463-1A4E153BECDC}"/>
              </a:ext>
            </a:extLst>
          </p:cNvPr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56C4A-0C81-CB1A-3325-16A10C1D8E7D}"/>
              </a:ext>
            </a:extLst>
          </p:cNvPr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CCEB141-42FC-7FF1-01FF-CC444DCFA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060"/>
            <a:ext cx="11567160" cy="252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1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33CA0-B668-2AD3-4875-58CB441F8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67308-1AF7-D81A-EF3D-2E77F1221799}"/>
              </a:ext>
            </a:extLst>
          </p:cNvPr>
          <p:cNvSpPr txBox="1"/>
          <p:nvPr/>
        </p:nvSpPr>
        <p:spPr>
          <a:xfrm>
            <a:off x="594360" y="292608"/>
            <a:ext cx="1097280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rPr lang="es-CO" dirty="0"/>
              <a:t>20</a:t>
            </a:r>
            <a:r>
              <a:rPr dirty="0"/>
              <a:t>· </a:t>
            </a:r>
            <a:r>
              <a:rPr lang="es-CO" dirty="0"/>
              <a:t>Proyecto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3ACDF5-57AC-3D55-9DF3-653CD2716308}"/>
              </a:ext>
            </a:extLst>
          </p:cNvPr>
          <p:cNvSpPr txBox="1"/>
          <p:nvPr/>
        </p:nvSpPr>
        <p:spPr>
          <a:xfrm>
            <a:off x="594360" y="658368"/>
            <a:ext cx="10972800" cy="5570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rPr lang="es-CO" dirty="0"/>
              <a:t>Después de la implementación del </a:t>
            </a:r>
            <a:r>
              <a:rPr lang="es-CO" sz="2900" dirty="0">
                <a:solidFill>
                  <a:srgbClr val="F8FAFD"/>
                </a:solidFill>
                <a:latin typeface="Aptos"/>
              </a:rPr>
              <a:t>patrón </a:t>
            </a:r>
            <a:r>
              <a:rPr lang="es-CO" dirty="0" err="1"/>
              <a:t>Decorator</a:t>
            </a:r>
            <a:endParaRPr lang="es-C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70B85-23F1-6809-C996-911244B5181F}"/>
              </a:ext>
            </a:extLst>
          </p:cNvPr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171A57-8D16-BE82-D149-EC274992E643}"/>
              </a:ext>
            </a:extLst>
          </p:cNvPr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B666448-9DF0-99CD-0458-ECAC19A8B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73" y="1438066"/>
            <a:ext cx="5285759" cy="5072462"/>
          </a:xfrm>
          <a:prstGeom prst="rect">
            <a:avLst/>
          </a:prstGeom>
        </p:spPr>
      </p:pic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47E5D64C-7D5B-11DA-E883-346E2B4CE4B1}"/>
              </a:ext>
            </a:extLst>
          </p:cNvPr>
          <p:cNvSpPr/>
          <p:nvPr/>
        </p:nvSpPr>
        <p:spPr>
          <a:xfrm>
            <a:off x="6259315" y="2961909"/>
            <a:ext cx="5212080" cy="1325880"/>
          </a:xfrm>
          <a:prstGeom prst="roundRect">
            <a:avLst/>
          </a:prstGeom>
          <a:solidFill>
            <a:srgbClr val="27364F"/>
          </a:solidFill>
          <a:ln>
            <a:solidFill>
              <a:srgbClr val="1E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9083C203-3A34-CADA-2DA0-A737A4344430}"/>
              </a:ext>
            </a:extLst>
          </p:cNvPr>
          <p:cNvSpPr/>
          <p:nvPr/>
        </p:nvSpPr>
        <p:spPr>
          <a:xfrm>
            <a:off x="6259315" y="3053349"/>
            <a:ext cx="64008" cy="114300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1B4217D0-8C81-6136-CBE1-DC590CB30672}"/>
              </a:ext>
            </a:extLst>
          </p:cNvPr>
          <p:cNvSpPr txBox="1"/>
          <p:nvPr/>
        </p:nvSpPr>
        <p:spPr>
          <a:xfrm>
            <a:off x="6487915" y="3124869"/>
            <a:ext cx="4864608" cy="8032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rPr lang="es-CO" dirty="0"/>
              <a:t>El decorador registra el inicio, delega el envío al canal original, mide cuánto tarda y registra si el envío terminó o produjo un error.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3950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1EBEAA"/>
                </a:solidFill>
                <a:latin typeface="Aptos"/>
              </a:defRPr>
            </a:pPr>
            <a:r>
              <a:rPr lang="es-CO" dirty="0"/>
              <a:t>21</a:t>
            </a:r>
            <a:r>
              <a:rPr dirty="0"/>
              <a:t>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2900" b="1" i="0">
                <a:solidFill>
                  <a:srgbClr val="F8FAFD"/>
                </a:solidFill>
                <a:latin typeface="Aptos"/>
              </a:defRPr>
            </a:pPr>
            <a: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1BED0"/>
                </a:solidFill>
                <a:latin typeface="Aptos"/>
              </a:defRPr>
            </a:pPr>
            <a:r>
              <a:t>Decorator permite ampliar un objeto con piezas pequeñas y combinables.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B1BED0"/>
                </a:solidFill>
                <a:latin typeface="Aptos"/>
              </a:defRPr>
            </a:pPr>
            <a:r>
              <a:t>PATRONES DE DISEÑO  • 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1EBEAA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241280" cy="1051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400" b="1" i="0">
                <a:solidFill>
                  <a:srgbClr val="F8FAFD"/>
                </a:solidFill>
                <a:latin typeface="Aptos"/>
              </a:defRPr>
            </a:pPr>
            <a:r>
              <a:t>No cambiamos el café original.</a:t>
            </a:r>
          </a:p>
          <a:p>
            <a:pPr algn="ctr">
              <a:spcAft>
                <a:spcPts val="700"/>
              </a:spcAft>
              <a:defRPr sz="2400" b="1" i="0">
                <a:solidFill>
                  <a:srgbClr val="F8FAFD"/>
                </a:solidFill>
                <a:latin typeface="Aptos"/>
              </a:defRPr>
            </a:pPr>
            <a:r>
              <a:t>Lo envolvemos con leche, chocolate u otros ingredientes.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24128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1EBEAA"/>
                </a:solidFill>
                <a:latin typeface="Aptos"/>
              </a:defRPr>
            </a:pPr>
            <a:r>
              <a:t>Más flexibilidad • Menos clases por combinación • Código ampliable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2412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B1BED0"/>
                </a:solidFill>
                <a:latin typeface="Aptos"/>
              </a:defRPr>
            </a:pPr>
            <a:r>
              <a:t>Fuentes para ampliar: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E6EEF8"/>
                </a:solidFill>
                <a:latin typeface="Aptos"/>
              </a:defRPr>
            </a:pPr>
            <a:r>
              <a:t>Refactoring.Guru — Decorator: https://refactoring.guru/es/design-patterns/decorator</a:t>
            </a:r>
          </a:p>
          <a:p>
            <a:pPr algn="l">
              <a:spcAft>
                <a:spcPts val="700"/>
              </a:spcAft>
              <a:defRPr sz="1100" b="0" i="0">
                <a:solidFill>
                  <a:srgbClr val="E6EEF8"/>
                </a:solidFill>
                <a:latin typeface="Aptos"/>
              </a:defRPr>
            </a:pPr>
            <a:r>
              <a:t>Java I/O — documentación oficial: https://docs.oracle.com/javase/8/docs/api/java/io/package-summary.html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1380</Words>
  <Application>Microsoft Office PowerPoint</Application>
  <PresentationFormat>Panorámica</PresentationFormat>
  <Paragraphs>277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Kristian Charris</cp:lastModifiedBy>
  <cp:revision>6</cp:revision>
  <dcterms:created xsi:type="dcterms:W3CDTF">2013-01-27T09:14:16Z</dcterms:created>
  <dcterms:modified xsi:type="dcterms:W3CDTF">2026-10-20T21:04:36Z</dcterms:modified>
  <cp:category/>
</cp:coreProperties>
</file>